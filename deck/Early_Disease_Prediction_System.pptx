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C1A17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C1A17"/>
                </a:solidFill>
                <a:latin typeface="Cambria"/>
              </a:rPr>
              <a:t>ROC AUC (%) — out-of-fold, 5-fold CV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Diabetes</c:v>
                </c:pt>
              </c:strCache>
            </c:strRef>
          </c:tx>
          <c:spPr>
            <a:solidFill>
              <a:srgbClr val="8E2F2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1A1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Uncertainty
Ensemble</c:v>
                  </c:pt>
                  <c:pt idx="1">
                    <c:v>Logistic
Regression</c:v>
                  </c:pt>
                  <c:pt idx="2">
                    <c:v>Random
Forest</c:v>
                  </c:pt>
                  <c:pt idx="3">
                    <c:v>Gradient
Boosting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83.5</c:v>
                </c:pt>
                <c:pt idx="1">
                  <c:v>83.5</c:v>
                </c:pt>
                <c:pt idx="2">
                  <c:v>83.3</c:v>
                </c:pt>
                <c:pt idx="3">
                  <c:v>82.6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Heart disease</c:v>
                </c:pt>
              </c:strCache>
            </c:strRef>
          </c:tx>
          <c:spPr>
            <a:solidFill>
              <a:srgbClr val="3A6B3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1A1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Uncertainty
Ensemble</c:v>
                  </c:pt>
                  <c:pt idx="1">
                    <c:v>Logistic
Regression</c:v>
                  </c:pt>
                  <c:pt idx="2">
                    <c:v>Random
Forest</c:v>
                  </c:pt>
                  <c:pt idx="3">
                    <c:v>Gradient
Boosting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90</c:v>
                </c:pt>
                <c:pt idx="1">
                  <c:v>90.9</c:v>
                </c:pt>
                <c:pt idx="2">
                  <c:v>91.2</c:v>
                </c:pt>
                <c:pt idx="3">
                  <c:v>88.5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C1A1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15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"/>
          <c:min val="75"/>
        </c:scaling>
        <c:delete val="0"/>
        <c:axPos val="l"/>
        <c:majorGridlines>
          <c:spPr>
            <a:ln w="6350" cap="flat">
              <a:solidFill>
                <a:srgbClr val="e5ddc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15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A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C9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DISEASE PREDICTION SYSTEM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325880"/>
            <a:ext cx="10725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AF6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Before Symptoms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1463040" y="2331720"/>
            <a:ext cx="9262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  ·  Heart Disease  —  with honest uncertainty, an independent second opinion, and a preventive plan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3429000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262019"/>
          </a:solidFill>
          <a:ln w="9525">
            <a:solidFill>
              <a:srgbClr val="4A42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52044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Riyansh Choudhary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39044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A9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ID 500122039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944368" y="3429000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262019"/>
          </a:solidFill>
          <a:ln w="9525">
            <a:solidFill>
              <a:srgbClr val="4A42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44368" y="352044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Pranav Singh Puri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944368" y="39044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A9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ID 500122453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111496" y="3429000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262019"/>
          </a:solidFill>
          <a:ln w="9525">
            <a:solidFill>
              <a:srgbClr val="4A42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11496" y="352044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Kartikya Yadav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111496" y="39044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A9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ID 500122804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278624" y="3429000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262019"/>
          </a:solidFill>
          <a:ln w="9525">
            <a:solidFill>
              <a:srgbClr val="4A42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78624" y="352044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Rudra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278624" y="39044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A9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ID 500124508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445752" y="3429000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262019"/>
          </a:solidFill>
          <a:ln w="9525">
            <a:solidFill>
              <a:srgbClr val="4A42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45752" y="352044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Sushant Jaiswal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445752" y="39044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A9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ID 500123999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31520" y="461772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Mentor:  </a:t>
            </a:r>
            <a:pPr algn="ctr" indent="0" marL="0">
              <a:buNone/>
            </a:pPr>
            <a:r>
              <a:rPr lang="en-US" sz="140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Imran Khan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" y="598932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 healthpredictor092005.streamlit.app      Code:  github.com/2005Maverick/early-disease-prediction-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 &amp; Our Solution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5362956" cy="4892040"/>
          </a:xfrm>
          <a:prstGeom prst="roundRect">
            <a:avLst>
              <a:gd name="adj" fmla="val 1682"/>
            </a:avLst>
          </a:prstGeom>
          <a:solidFill>
            <a:srgbClr val="F6F2E9"/>
          </a:solidFill>
          <a:ln/>
          <a:effectLst>
            <a:outerShdw sx="100000" sy="100000" kx="0" ky="0" algn="bl" rotWithShape="0" blurRad="101600" dist="25400" dir="5400000">
              <a:srgbClr val="3a312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783080"/>
            <a:ext cx="502920" cy="502920"/>
          </a:xfrm>
          <a:prstGeom prst="ellipse">
            <a:avLst/>
          </a:prstGeom>
          <a:solidFill>
            <a:srgbClr val="1C1A17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647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54480" y="1810512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514600"/>
            <a:ext cx="4631436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 and heart disease develop silently for years — but early lifestyle intervention cuts diabetes incidence by 58% (DPP trial).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ML prototypes output a single risk number with no statement of confidence — the user cannot tell 84% they should trust from 84% they should not.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projects report accuracy on data the model partially saw, and silently feed the Pima dataset’s impossible zeros in as real measurements.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23076" y="1417320"/>
            <a:ext cx="5362956" cy="4892040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 w="15875">
            <a:solidFill>
              <a:srgbClr val="8E2F22"/>
            </a:solidFill>
            <a:prstDash val="solid"/>
          </a:ln>
          <a:effectLst>
            <a:outerShdw sx="100000" sy="100000" kx="0" ky="0" algn="bl" rotWithShape="0" blurRad="101600" dist="25400" dir="5400000">
              <a:srgbClr val="3a3128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688836" y="1783080"/>
            <a:ext cx="502920" cy="502920"/>
          </a:xfrm>
          <a:prstGeom prst="ellipse">
            <a:avLst/>
          </a:prstGeom>
          <a:solidFill>
            <a:srgbClr val="8E2F22"/>
          </a:solidFill>
          <a:ln/>
        </p:spPr>
      </p:sp>
      <p:sp>
        <p:nvSpPr>
          <p:cNvPr id="10" name="Text 8"/>
          <p:cNvSpPr/>
          <p:nvPr/>
        </p:nvSpPr>
        <p:spPr>
          <a:xfrm>
            <a:off x="6688836" y="17647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74636" y="1810512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E2F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Solution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88836" y="2514600"/>
            <a:ext cx="4631436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Uncertainty Engine — 200 bootstrap-trained models produce a risk distribution per patient, whose spread is honest confidence.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Like You — a model-free 50-nearest-neighbour second opinion; agreement between independent methods builds trust.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metric strictly out-of-fold; the alert threshold derived from a stated clinical rule (recall ≥ 85%).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Explanations and a guideline-based preventive plan turn the score into action.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strands of prior work shaped the design.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457200" cy="457200"/>
          </a:xfrm>
          <a:prstGeom prst="ellipse">
            <a:avLst/>
          </a:prstGeom>
          <a:solidFill>
            <a:srgbClr val="8E2F2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234440" y="1481328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Grinsztajn, Oyallon &amp; Varoquaux (2022, NeurIPS)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234440" y="1865376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tree-based models still outperform deep learning on typical tabular data — justifies gradient boosting as our base learner at 768 / 303 patients.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457200" cy="457200"/>
          </a:xfrm>
          <a:prstGeom prst="ellipse">
            <a:avLst/>
          </a:prstGeom>
          <a:solidFill>
            <a:srgbClr val="8E2F22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688336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Efron (1979)  ·  Breiman (1996)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234440" y="3072384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bootstrap and bagging — training many models on resamples. We keep the averaged prediction for accuracy and expose the full spread as per-patient uncertainty.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3986784"/>
            <a:ext cx="457200" cy="457200"/>
          </a:xfrm>
          <a:prstGeom prst="ellipse">
            <a:avLst/>
          </a:prstGeom>
          <a:solidFill>
            <a:srgbClr val="8E2F22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34440" y="38953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 &amp; Hart (1967)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234440" y="4279392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Nearest-neighbour pattern classification — the oldest idea in the field becomes our model-free second opinion and a case-based explanation clinicians find natural.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8E2F22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5175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34440" y="5102352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Diabetes Prevention Program (2002, NEJM)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234440" y="5486400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 intervention cut type-2 diabetes incidence by 58% — the clinical evidence that early, actionable prediction is worth building.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classical clinical study datasets — and the trap most projects fall into.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6F2E9"/>
          </a:solidFill>
          <a:ln/>
          <a:effectLst>
            <a:outerShdw sx="100000" sy="100000" kx="0" ky="0" algn="bl" rotWithShape="0" blurRad="101600" dist="25400" dir="5400000">
              <a:srgbClr val="3a3128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66420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E2F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Diabetes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77240" y="2066544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Pima study — NIDDK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45059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768 patients, 8 features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glucose, BMI, insulin, age, family history…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34.9% developed the disease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89120" y="146304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6F2E9"/>
          </a:solidFill>
          <a:ln/>
          <a:effectLst>
            <a:outerShdw sx="100000" sy="100000" kx="0" ky="0" algn="bl" rotWithShape="0" blurRad="101600" dist="25400" dir="5400000">
              <a:srgbClr val="3a3128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63440" y="166420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E2F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 disease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663440" y="2066544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Cleveland Clinic — UCI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63440" y="245059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303 patients, 13 features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cholesterol, max heart rate, ST depression…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45.9% diagnosed with disease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75320" y="1463040"/>
            <a:ext cx="3410712" cy="2743200"/>
          </a:xfrm>
          <a:prstGeom prst="roundRect">
            <a:avLst>
              <a:gd name="adj" fmla="val 3000"/>
            </a:avLst>
          </a:prstGeom>
          <a:solidFill>
            <a:srgbClr val="1C1A17"/>
          </a:solidFill>
          <a:ln/>
          <a:effectLst>
            <a:outerShdw sx="100000" sy="100000" kx="0" ky="0" algn="bl" rotWithShape="0" blurRad="101600" dist="25400" dir="5400000">
              <a:srgbClr val="3a3128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75320" y="1691640"/>
            <a:ext cx="3410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6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374 / 768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549640" y="2487168"/>
            <a:ext cx="28620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Pima patients with a physiologically impossible ZERO recorded for insulin — hidden missing data most projects feed to the model as real.</a:t>
            </a:r>
            <a:endParaRPr lang="en-US" sz="1250" dirty="0"/>
          </a:p>
        </p:txBody>
      </p:sp>
      <p:pic>
        <p:nvPicPr>
          <p:cNvPr id="15" name="Image 0" descr="../report/figures/missing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4434840"/>
            <a:ext cx="7955280" cy="212140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3a3128">
                <a:alpha val="28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once offline; serve per patient online. Nothing is predicted until the user asks.</a:t>
            </a:r>
            <a:endParaRPr lang="en-US" sz="1300" dirty="0"/>
          </a:p>
        </p:txBody>
      </p:sp>
      <p:pic>
        <p:nvPicPr>
          <p:cNvPr id="4" name="Image 0" descr="../report/figures/arch_syst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1417320"/>
            <a:ext cx="9829800" cy="512064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3a3128">
                <a:alpha val="28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Dive I — The Uncertainty Engine</a:t>
            </a:r>
            <a:endParaRPr lang="en-US" sz="3000" dirty="0"/>
          </a:p>
        </p:txBody>
      </p:sp>
      <p:pic>
        <p:nvPicPr>
          <p:cNvPr id="3" name="Image 0" descr="../report/figures/arch_ensem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7406640" cy="2999232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3a3128">
                <a:alpha val="28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8183880" y="1481328"/>
            <a:ext cx="3502152" cy="2999232"/>
          </a:xfrm>
          <a:prstGeom prst="roundRect">
            <a:avLst>
              <a:gd name="adj" fmla="val 2744"/>
            </a:avLst>
          </a:prstGeom>
          <a:solidFill>
            <a:srgbClr val="F6F2E9"/>
          </a:solidFill>
          <a:ln/>
        </p:spPr>
      </p:sp>
      <p:sp>
        <p:nvSpPr>
          <p:cNvPr id="5" name="Text 2"/>
          <p:cNvSpPr/>
          <p:nvPr/>
        </p:nvSpPr>
        <p:spPr>
          <a:xfrm>
            <a:off x="8412480" y="1627632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412480" y="2011680"/>
            <a:ext cx="3044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Members:  200 pipelines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 impute → scale → boosting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Trees:  100 per member, depth 3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Training:  bootstrap resamples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Seeds:  42 – 241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Hyperparameters:  library defaults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02920" y="4709160"/>
            <a:ext cx="111831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2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chosen.  </a:t>
            </a:r>
            <a:pPr indent="0" marL="0">
              <a:buNone/>
            </a:pPr>
            <a:r>
              <a:rPr lang="en-US" sz="14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Gradient-boosted trees are the strongest learners at this data scale; bootstrapping 200 of them turns one opinion into a distribution. Deliberately untuned — with ~600 training rows per fold, aggressive tuning fits noise, so evaluation integrity was prioritised over a possible extra AUC point.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2920" y="5897880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E2F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“We ask 200 slightly different models and plot all their answers.”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Dive II — A Distribution, Not a Number</a:t>
            </a:r>
            <a:endParaRPr lang="en-US" sz="3000" dirty="0"/>
          </a:p>
        </p:txBody>
      </p:sp>
      <p:pic>
        <p:nvPicPr>
          <p:cNvPr id="3" name="Image 0" descr="../report/figures/dist_examp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63040"/>
            <a:ext cx="10607040" cy="352044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3a3128">
                <a:alpha val="28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1463040" y="5212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A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1–2%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1463040" y="59893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 width when the 200 models agree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6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(clear low-risk patient)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4617720" y="5212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A65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65–96%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4617720" y="59893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 width for an ambiguous patient 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6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says so, visibly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772400" y="5212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E2F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7772400" y="59893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band shown with every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6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assessment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Dive III — Patients Like You</a:t>
            </a:r>
            <a:endParaRPr lang="en-US" sz="3000" dirty="0"/>
          </a:p>
        </p:txBody>
      </p:sp>
      <p:pic>
        <p:nvPicPr>
          <p:cNvPr id="3" name="Image 0" descr="../report/screens/diab_simi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3040"/>
            <a:ext cx="7223760" cy="374904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3a3128">
                <a:alpha val="28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8092440" y="1554480"/>
            <a:ext cx="35935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8E2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 at all.  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every feature, find the 50 most similar patients in the study, report how many actually developed the disease.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8092440" y="3200400"/>
            <a:ext cx="35935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it shares no machinery with the ensemble, agreement is real evidence — and disagreement flags an unusual patient, exactly when caution is right. The interface states which case applies.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02920" y="5532120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3A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Example: 84.8% (ensemble)  vs  78% (similar patients) — methods agree.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Dive IV — The Alert Threshold Is a Stated Rule</a:t>
            </a:r>
            <a:endParaRPr lang="en-US" sz="3000" dirty="0"/>
          </a:p>
        </p:txBody>
      </p:sp>
      <p:pic>
        <p:nvPicPr>
          <p:cNvPr id="3" name="Image 0" descr="../report/figures/threshold_ru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63040"/>
            <a:ext cx="10607040" cy="4005072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3a3128">
                <a:alpha val="28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777240" y="56692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2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 </a:t>
            </a:r>
            <a:pPr indent="0" marL="0">
              <a:buNone/>
            </a:pPr>
            <a:r>
              <a:rPr lang="en-US" sz="14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among all thresholds with out-of-fold recall ≥ 85% — never miss more than 15% of true future patients — choose the one with the best precision.  Result: alert at 23.8% (diabetes) and 27.3% (heart disease). The rule and its consequence are shown inside the application.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I — Model Benchmark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models, identical folds, every number out-of-fold. ROC AUC shown; full table in the report.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60020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863840" y="1645920"/>
            <a:ext cx="3822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E2F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85%+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7863840" y="2423160"/>
            <a:ext cx="3822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on both diseases 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6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construction, not by luck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7863840" y="3200400"/>
            <a:ext cx="3822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A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90.0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863840" y="3977640"/>
            <a:ext cx="3822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heart-disease ROC AUC of the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6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ensemble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863840" y="4709160"/>
            <a:ext cx="38221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note: on the smaller Cleveland data, simpler baselines edge ahead by ~1 AUC point. The ensemble still wins deployment — it is the only model that also outputs trustworthy uncertainty (next slide).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II — The System Knows When It Does Not Know</a:t>
            </a:r>
            <a:endParaRPr lang="en-US" sz="3000" dirty="0"/>
          </a:p>
        </p:txBody>
      </p:sp>
      <p:pic>
        <p:nvPicPr>
          <p:cNvPr id="3" name="Image 0" descr="../report/figures/uncertainty_err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7635240" cy="271576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3a3128">
                <a:alpha val="28000"/>
              </a:srgbClr>
            </a:outerShdw>
          </a:effectLst>
        </p:spPr>
      </p:pic>
      <p:pic>
        <p:nvPicPr>
          <p:cNvPr id="4" name="Image 1" descr="../report/figures/calibr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315968"/>
            <a:ext cx="6126480" cy="2313432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3a3128">
                <a:alpha val="28000"/>
              </a:srgbClr>
            </a:outerShdw>
          </a:effectLst>
        </p:spPr>
      </p:pic>
      <p:sp>
        <p:nvSpPr>
          <p:cNvPr id="5" name="Text 1"/>
          <p:cNvSpPr/>
          <p:nvPr/>
        </p:nvSpPr>
        <p:spPr>
          <a:xfrm>
            <a:off x="8549640" y="15544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E2F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6% → 43%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8549640" y="23317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rate, narrowest to widest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6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bands (diabetes)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8549640" y="3108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A65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4% → 46%</a:t>
            </a:r>
            <a:endParaRPr lang="en-US" sz="4000" dirty="0"/>
          </a:p>
        </p:txBody>
      </p:sp>
      <p:sp>
        <p:nvSpPr>
          <p:cNvPr id="8" name="Text 4"/>
          <p:cNvSpPr/>
          <p:nvPr/>
        </p:nvSpPr>
        <p:spPr>
          <a:xfrm>
            <a:off x="8549640" y="38862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effect on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6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disease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7086600" y="489204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too: patients told “about 30% risk” develop the disease about 30% of the time (bottom).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Live Dashboard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and public — a gated flow: intake form → Run assessment → report. No phantom predictions.</a:t>
            </a:r>
            <a:endParaRPr lang="en-US" sz="1300" dirty="0"/>
          </a:p>
        </p:txBody>
      </p:sp>
      <p:pic>
        <p:nvPicPr>
          <p:cNvPr id="4" name="Image 0" descr="../report/screens/diab_find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08760"/>
            <a:ext cx="5532120" cy="338328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3a3128">
                <a:alpha val="28000"/>
              </a:srgbClr>
            </a:outerShdw>
          </a:effectLst>
        </p:spPr>
      </p:pic>
      <p:pic>
        <p:nvPicPr>
          <p:cNvPr id="5" name="Image 1" descr="../report/screens/heart_find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508760"/>
            <a:ext cx="5440680" cy="274320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3a3128">
                <a:alpha val="28000"/>
              </a:srgbClr>
            </a:outerShdw>
          </a:effectLst>
        </p:spPr>
      </p:pic>
      <p:sp>
        <p:nvSpPr>
          <p:cNvPr id="6" name="Text 2"/>
          <p:cNvSpPr/>
          <p:nvPr/>
        </p:nvSpPr>
        <p:spPr>
          <a:xfrm>
            <a:off x="6263640" y="438912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engine, two diseases — same interface serving the diabetes (left) and heart-disease (right) models.</a:t>
            </a:r>
            <a:endParaRPr lang="en-US" sz="1250" dirty="0"/>
          </a:p>
        </p:txBody>
      </p:sp>
      <p:sp>
        <p:nvSpPr>
          <p:cNvPr id="7" name="Shape 3"/>
          <p:cNvSpPr/>
          <p:nvPr/>
        </p:nvSpPr>
        <p:spPr>
          <a:xfrm>
            <a:off x="2651760" y="5349240"/>
            <a:ext cx="6858000" cy="868680"/>
          </a:xfrm>
          <a:prstGeom prst="roundRect">
            <a:avLst>
              <a:gd name="adj" fmla="val 10526"/>
            </a:avLst>
          </a:prstGeom>
          <a:solidFill>
            <a:srgbClr val="1C1A17"/>
          </a:solidFill>
          <a:ln/>
          <a:effectLst>
            <a:outerShdw sx="100000" sy="100000" kx="0" ky="0" algn="bl" rotWithShape="0" blurRad="101600" dist="25400" dir="5400000">
              <a:srgbClr val="3a3128">
                <a:alpha val="28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2651760" y="534924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AF6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healthpredictor092005.streamlit.app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SWOT Analysis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5408676" cy="2395728"/>
          </a:xfrm>
          <a:prstGeom prst="roundRect">
            <a:avLst>
              <a:gd name="adj" fmla="val 3435"/>
            </a:avLst>
          </a:prstGeom>
          <a:solidFill>
            <a:srgbClr val="F6F2E9"/>
          </a:solidFill>
          <a:ln/>
          <a:effectLst>
            <a:outerShdw sx="100000" sy="100000" kx="0" ky="0" algn="bl" rotWithShape="0" blurRad="101600" dist="25400" dir="5400000">
              <a:srgbClr val="3a3128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58952" y="1545336"/>
            <a:ext cx="48966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58952" y="1965960"/>
            <a:ext cx="48966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metric out-of-fold; probabilities calibrated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 demonstrably informative (6% → 43% error)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methods cross-check each other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Deployed, tested (15 tests), reproducible figures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277356" y="1417320"/>
            <a:ext cx="5408676" cy="2395728"/>
          </a:xfrm>
          <a:prstGeom prst="roundRect">
            <a:avLst>
              <a:gd name="adj" fmla="val 3435"/>
            </a:avLst>
          </a:prstGeom>
          <a:solidFill>
            <a:srgbClr val="F6F2E9"/>
          </a:solidFill>
          <a:ln/>
          <a:effectLst>
            <a:outerShdw sx="100000" sy="100000" kx="0" ky="0" algn="bl" rotWithShape="0" blurRad="101600" dist="25400" dir="5400000">
              <a:srgbClr val="3a3128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33388" y="1545336"/>
            <a:ext cx="48966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65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Weaknesses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33388" y="1965960"/>
            <a:ext cx="48966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decades-old cohorts (768 / 303 patients)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validation on a modern population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bands capture sampling uncertainty only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 is model response, not causal effect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4133088"/>
            <a:ext cx="5408676" cy="2395728"/>
          </a:xfrm>
          <a:prstGeom prst="roundRect">
            <a:avLst>
              <a:gd name="adj" fmla="val 3435"/>
            </a:avLst>
          </a:prstGeom>
          <a:solidFill>
            <a:srgbClr val="F6F2E9"/>
          </a:solidFill>
          <a:ln/>
          <a:effectLst>
            <a:outerShdw sx="100000" sy="100000" kx="0" ky="0" algn="bl" rotWithShape="0" blurRad="101600" dist="25400" dir="5400000">
              <a:srgbClr val="3a3128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58952" y="4261104"/>
            <a:ext cx="48966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E2F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Opportunities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58952" y="4681728"/>
            <a:ext cx="48966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disease = one config file + retrain (registry design)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Conformal prediction for formal coverage guarantees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validation on modern cohorts (e.g. NHANES)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Longitudinal mode: track risk across assessments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77356" y="4133088"/>
            <a:ext cx="5408676" cy="2395728"/>
          </a:xfrm>
          <a:prstGeom prst="roundRect">
            <a:avLst>
              <a:gd name="adj" fmla="val 3435"/>
            </a:avLst>
          </a:prstGeom>
          <a:solidFill>
            <a:srgbClr val="F6F2E9"/>
          </a:solidFill>
          <a:ln/>
          <a:effectLst>
            <a:outerShdw sx="100000" sy="100000" kx="0" ky="0" algn="bl" rotWithShape="0" blurRad="101600" dist="25400" dir="5400000">
              <a:srgbClr val="3a3128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33388" y="4261104"/>
            <a:ext cx="48966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Threats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33388" y="4681728"/>
            <a:ext cx="48966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clinically validated — must not drive real decisions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bias limits transfer across populations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may over-trust a polished interface — mitigated by visible uncertainty and in-product disclaimers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554480"/>
            <a:ext cx="548640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L. Breiman, “Bagging predictors,” Machine Learning, 24(2), 1996.</a:t>
            </a:r>
            <a:endParaRPr lang="en-US" sz="12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J. H. Friedman, “Greedy function approximation: a gradient boosting machine,” Annals of Statistics, 29(5), 2001.</a:t>
            </a:r>
            <a:endParaRPr lang="en-US" sz="12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L. Grinsztajn, E. Oyallon, G. Varoquaux, “Why do tree-based models still outperform deep learning on typical tabular data?,” NeurIPS, 2022.</a:t>
            </a:r>
            <a:endParaRPr lang="en-US" sz="12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B. Efron, “Bootstrap methods: another look at the jackknife,” Annals of Statistics, 7(1), 1979.</a:t>
            </a:r>
            <a:endParaRPr lang="en-US" sz="12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T. Cover, P. Hart, “Nearest neighbor pattern classification,” IEEE Trans. Information Theory, 13(1), 1967.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309360" y="1554480"/>
            <a:ext cx="548640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J. W. Smith et al., “Using the ADAP learning algorithm to forecast the onset of diabetes mellitus,” Proc. SCAMC, 1988.</a:t>
            </a:r>
            <a:endParaRPr lang="en-US" sz="12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R. Detrano et al., “International application of a new probability algorithm for the diagnosis of coronary artery disease,” Am. J. Cardiology, 64(5), 1989.</a:t>
            </a:r>
            <a:endParaRPr lang="en-US" sz="12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Diabetes Prevention Program Research Group, “Reduction in the incidence of type 2 diabetes…,” NEJM, 346(6), 2002.</a:t>
            </a:r>
            <a:endParaRPr lang="en-US" sz="12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A. Niculescu-Mizil, R. Caruana, “Predicting good probabilities with supervised learning,” ICML, 2005.</a:t>
            </a:r>
            <a:endParaRPr lang="en-US" sz="12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F. Pedregosa et al., “Scikit-learn: machine learning in Python,” JMLR, 12, 2011.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1A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AF6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731520" y="306324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C9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393192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Disease Prediction System  ·  Diabetes &amp; Heart Disease  ·  200 models, honest uncertainty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47091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AF6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live:  healthpredictor092005.streamlit.app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2026-08-10T19:13:29Z</dcterms:created>
  <dcterms:modified xsi:type="dcterms:W3CDTF">2026-08-10T19:13:29Z</dcterms:modified>
</cp:coreProperties>
</file>