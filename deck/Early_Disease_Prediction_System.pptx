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A17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C1A17"/>
                </a:solidFill>
                <a:latin typeface="Cambria"/>
              </a:rPr>
              <a:t>ROC AUC (%) — out-of-fold, 5-fold CV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Diabetes</c:v>
                </c:pt>
              </c:strCache>
            </c:strRef>
          </c:tx>
          <c:spPr>
            <a:solidFill>
              <a:srgbClr val="8E2F2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Uncertainty
Ensemble</c:v>
                  </c:pt>
                  <c:pt idx="1">
                    <c:v>Logistic
Regression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83.5</c:v>
                </c:pt>
                <c:pt idx="1">
                  <c:v>83.5</c:v>
                </c:pt>
                <c:pt idx="2">
                  <c:v>83.3</c:v>
                </c:pt>
                <c:pt idx="3">
                  <c:v>82.6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3A6B3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Uncertainty
Ensemble</c:v>
                  </c:pt>
                  <c:pt idx="1">
                    <c:v>Logistic
Regression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90.9</c:v>
                </c:pt>
                <c:pt idx="2">
                  <c:v>91.2</c:v>
                </c:pt>
                <c:pt idx="3">
                  <c:v>88.5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1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e5dd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15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PREDICTION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Before Symptoms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463040" y="2331720"/>
            <a:ext cx="9262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 ·  Heart Disease  —  with honest uncertainty, an independent second opinion, and a preventive plan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262019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Riyansh Choudhary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500122039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44368" y="342900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262019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Singh Puri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44368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500122453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11496" y="342900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262019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Kartikya Yadav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11496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500122804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78624" y="342900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262019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78624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500124508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45752" y="342900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262019"/>
          </a:solidFill>
          <a:ln w="9525">
            <a:solidFill>
              <a:srgbClr val="4A4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3520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 Jaiswal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3904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ID 500123999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pPr algn="ctr" indent="0" marL="0">
              <a:buNone/>
            </a:pPr>
            <a:r>
              <a:rPr lang="en-US" sz="140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healthpredictor092005.streamlit.app      Code:  github.com/2005Maverick/early-disease-prediction-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362956" cy="4892040"/>
          </a:xfrm>
          <a:prstGeom prst="roundRect">
            <a:avLst>
              <a:gd name="adj" fmla="val 1682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C1A1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10512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3143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heart disease develop silently for years — but early lifestyle intervention cuts diabetes incidence by 58% (DPP trial).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ML prototypes output a single risk number with no statement of confidence — the user cannot tell 84% they should trust from 84% they should not.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report accuracy on data the model partially saw, and silently feed the Pima dataset’s impossible zeros in as real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3076" y="1417320"/>
            <a:ext cx="5362956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5875">
            <a:solidFill>
              <a:srgbClr val="8E2F22"/>
            </a:solidFill>
            <a:prstDash val="solid"/>
          </a:ln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88836" y="1783080"/>
            <a:ext cx="502920" cy="502920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0" name="Text 8"/>
          <p:cNvSpPr/>
          <p:nvPr/>
        </p:nvSpPr>
        <p:spPr>
          <a:xfrm>
            <a:off x="6688836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74636" y="1810512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88836" y="2514600"/>
            <a:ext cx="463143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Uncertainty Engine — 200 bootstrap-trained models produce a risk distribution per patient, whose spread is honest confidence.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Like You — a model-free 50-nearest-neighbour second opinion; agreement between independent methods builds trust.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strictly out-of-fold; the alert threshold derived from a stated clinical rule (recall ≥ 85%).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and a guideline-based preventive plan turn the score into action.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strands of prior work shaped the design.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57200" cy="457200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Grinsztajn, Oyallon &amp; Varoquaux (2022, NeurIPS)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1865376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tree-based models still outperform deep learning on typical tabular data — justifies gradient boosting as our base learner at 768 / 303 patients.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457200" cy="457200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8336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Efron (1979)  ·  Breiman (1996)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072384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bootstrap and bagging — training many models on resamples. We keep the averaged prediction for accuracy and expose the full spread as per-patient uncertainty.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986784"/>
            <a:ext cx="457200" cy="457200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895344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&amp; Hart (1967)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4279392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pattern classification — the oldest idea in the field becomes our model-free second opinion and a case-based explanation clinicians find natural.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8E2F22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5102352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Prevention Program (2002, NEJM)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34440" y="54864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intervention cut type-2 diabetes incidence by 58% — the clinical evidence that early, actionable prediction is worth building.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classical clinical study datasets — and the trap most projects fall into.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0665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study — NIDDK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patients, 8 features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BMI, insulin, age, family history…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 developed the disease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6642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20665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Clinic — UCI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45059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patients, 13 features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cholesterol, max heart rate, ST depression…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 diagnosed with disease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463040"/>
            <a:ext cx="3410712" cy="2743200"/>
          </a:xfrm>
          <a:prstGeom prst="roundRect">
            <a:avLst>
              <a:gd name="adj" fmla="val 3000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9164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374 / 768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49640" y="2487168"/>
            <a:ext cx="2862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patients with a physiologically impossible ZERO recorded for insulin — hidden missing data most projects feed to the model as real.</a:t>
            </a:r>
            <a:endParaRPr lang="en-US" sz="1250" dirty="0"/>
          </a:p>
        </p:txBody>
      </p:sp>
      <p:pic>
        <p:nvPicPr>
          <p:cNvPr id="15" name="Image 0" descr="../report/figures/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4434840"/>
            <a:ext cx="7955280" cy="212140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 offline; serve per patient online. Nothing is predicted until the user asks.</a:t>
            </a:r>
            <a:endParaRPr lang="en-US" sz="1300" dirty="0"/>
          </a:p>
        </p:txBody>
      </p:sp>
      <p:pic>
        <p:nvPicPr>
          <p:cNvPr id="4" name="Image 0" descr="../report/figures/arch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417320"/>
            <a:ext cx="9829800" cy="51206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I — The Uncertainty Engine</a:t>
            </a:r>
            <a:endParaRPr lang="en-US" sz="3000" dirty="0"/>
          </a:p>
        </p:txBody>
      </p:sp>
      <p:pic>
        <p:nvPicPr>
          <p:cNvPr id="3" name="Image 0" descr="../report/figures/arch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7406640" cy="212140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183880" y="1481328"/>
            <a:ext cx="3502152" cy="2999232"/>
          </a:xfrm>
          <a:prstGeom prst="roundRect">
            <a:avLst>
              <a:gd name="adj" fmla="val 2744"/>
            </a:avLst>
          </a:prstGeom>
          <a:solidFill>
            <a:srgbClr val="F6F2E9"/>
          </a:solidFill>
          <a:ln/>
        </p:spPr>
      </p:sp>
      <p:sp>
        <p:nvSpPr>
          <p:cNvPr id="5" name="Text 2"/>
          <p:cNvSpPr/>
          <p:nvPr/>
        </p:nvSpPr>
        <p:spPr>
          <a:xfrm>
            <a:off x="8412480" y="16276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0" y="2011680"/>
            <a:ext cx="30449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 200 pipelines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 impute → scale → boosting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  100 per member, depth 3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bootstrap resamples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 42 – 241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  library defaults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4709160"/>
            <a:ext cx="11183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chosen.  </a:t>
            </a:r>
            <a:pPr indent="0" marL="0">
              <a:buNone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are the strongest learners at this data scale; bootstrapping 200 of them turns one opinion into a distribution. Deliberately untuned — with ~600 training rows per fold, aggressive tuning fits noise, so evaluation integrity was prioritised over a possible extra AUC point.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58978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ask 200 slightly different models and plot all their answers.”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II — A Distribution, Not a Number</a:t>
            </a:r>
            <a:endParaRPr lang="en-US" sz="3000" dirty="0"/>
          </a:p>
        </p:txBody>
      </p:sp>
      <p:pic>
        <p:nvPicPr>
          <p:cNvPr id="3" name="Image 0" descr="../report/figures/dist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10607040" cy="35204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46304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1–2%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463040" y="5989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width when the 200 models agree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 low-risk patient)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1772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6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65–96%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617720" y="5989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width for an ambiguous patient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says so, visibly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0" y="5989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shown with every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assessment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III — Patients Like You</a:t>
            </a:r>
            <a:endParaRPr lang="en-US" sz="3000" dirty="0"/>
          </a:p>
        </p:txBody>
      </p:sp>
      <p:pic>
        <p:nvPicPr>
          <p:cNvPr id="3" name="Image 0" descr="../report/screens/diab_simi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223760" cy="37490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092440" y="1554480"/>
            <a:ext cx="3593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E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at all. 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every feature, find the 50 most similar patients in the study, report how many actually developed the disease.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092440" y="3200400"/>
            <a:ext cx="3593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shares no machinery with the ensemble, agreement is real evidence — and disagreement flags an unusual patient, exactly when caution is right. The interface states which case applies.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55321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A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84.8% (ensemble)  vs  78% (similar patients) — methods agree.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IV — The Alert Threshold Is a Stated Rule</a:t>
            </a:r>
            <a:endParaRPr lang="en-US" sz="3000" dirty="0"/>
          </a:p>
        </p:txBody>
      </p:sp>
      <p:pic>
        <p:nvPicPr>
          <p:cNvPr id="3" name="Image 0" descr="../report/figures/threshold_r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10607040" cy="400507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77240" y="5669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thresholds with out-of-fold recall ≥ 85% — never miss more than 15% of true future patients — choose the one with the best precision.  Result: alert at 23.8% (diabetes) and 27.3% (heart disease). The rule and its consequence are shown inside the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 — Model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identical folds, every number out-of-fold. ROC AUC shown; full table in the report.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64592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863840" y="242316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both diseases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construction, not by luck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63840" y="320040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863840" y="397764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heart-disease ROC AUC of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ensemble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0" y="4709160"/>
            <a:ext cx="38221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on the smaller Cleveland data, simpler baselines edge ahead by ~1 AUC point. The ensemble still wins deployment — it is the only model that also outputs trustworthy uncertainty (next slide).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II — The System Knows When It Does Not Know</a:t>
            </a:r>
            <a:endParaRPr lang="en-US" sz="3000" dirty="0"/>
          </a:p>
        </p:txBody>
      </p:sp>
      <p:pic>
        <p:nvPicPr>
          <p:cNvPr id="3" name="Image 0" descr="../report/figures/uncertainty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635240" cy="27157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pic>
        <p:nvPicPr>
          <p:cNvPr id="4" name="Image 1" descr="../report/figures/calib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15968"/>
            <a:ext cx="6126480" cy="231343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8549640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 → 43%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5496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rate, narrowest to widest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bands (diabetes)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54964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6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→ 46%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54964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effect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086600" y="4892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too: patients told “about 30% risk” develop the disease about 30% of the time (bottom).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public — a gated flow: intake form → Run assessment → report. No phantom predictions.</a:t>
            </a:r>
            <a:endParaRPr lang="en-US" sz="1300" dirty="0"/>
          </a:p>
        </p:txBody>
      </p:sp>
      <p:pic>
        <p:nvPicPr>
          <p:cNvPr id="4" name="Image 0" descr="../report/screens/diab_f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532120" cy="33832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pic>
        <p:nvPicPr>
          <p:cNvPr id="5" name="Image 1" descr="../report/screens/heart_find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440680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263640" y="4389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diseases — same interface serving the diabetes (left) and heart-disease (right) models.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2651760" y="534924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651760" y="53492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healthpredictor092005.streamlit.app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08676" cy="2395728"/>
          </a:xfrm>
          <a:prstGeom prst="roundRect">
            <a:avLst>
              <a:gd name="adj" fmla="val 3435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58952" y="1545336"/>
            <a:ext cx="4896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" y="1965960"/>
            <a:ext cx="48966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out-of-fold; probabilities calibrated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demonstrably informative (6% → 43% error)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methods cross-check each other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tested (15 tests), reproducible figures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77356" y="1417320"/>
            <a:ext cx="5408676" cy="2395728"/>
          </a:xfrm>
          <a:prstGeom prst="roundRect">
            <a:avLst>
              <a:gd name="adj" fmla="val 3435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3388" y="1545336"/>
            <a:ext cx="4896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5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3388" y="1965960"/>
            <a:ext cx="48966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decades-old cohorts (768 / 303 patients)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on a modern population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bands capture sampling uncertainty only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is model response, not causal effect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133088"/>
            <a:ext cx="5408676" cy="2395728"/>
          </a:xfrm>
          <a:prstGeom prst="roundRect">
            <a:avLst>
              <a:gd name="adj" fmla="val 3435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4261104"/>
            <a:ext cx="4896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4681728"/>
            <a:ext cx="48966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disease = one config file + retrain (registry design)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for formal coverage guarantees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modern cohorts (e.g. NHANES)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mode: track risk across assessments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7356" y="4133088"/>
            <a:ext cx="5408676" cy="2395728"/>
          </a:xfrm>
          <a:prstGeom prst="roundRect">
            <a:avLst>
              <a:gd name="adj" fmla="val 3435"/>
            </a:avLst>
          </a:prstGeom>
          <a:solidFill>
            <a:srgbClr val="F6F2E9"/>
          </a:solidFill>
          <a:ln/>
          <a:effectLst>
            <a:outerShdw sx="100000" sy="100000" kx="0" ky="0" algn="bl" rotWithShape="0" blurRad="101600" dist="25400" dir="5400000">
              <a:srgbClr val="3a312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3388" y="4261104"/>
            <a:ext cx="4896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3388" y="4681728"/>
            <a:ext cx="48966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 — must not drive real decisions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bias limits transfer across populations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over-trust a polished interface — mitigated by visible uncertainty and in-product disclaimers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 Breiman, “Bagging predictors,” Machine Learning, 24(2), 1996.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H. Friedman, “Greedy function approximation: a gradient boosting machine,” Annals of Statistics, 29(5), 2001.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Grinsztajn, E. Oyallon, G. Varoquaux, “Why do tree-based models still outperform deep learning on typical tabular data?,” NeurIPS, 2022.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B. Efron, “Bootstrap methods: another look at the jackknife,” Annals of Statistics, 7(1), 1979.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T. Cover, P. Hart, “Nearest neighbor pattern classification,” IEEE Trans. Information Theory, 13(1), 1967.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09360" y="155448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W. Smith et al., “Using the ADAP learning algorithm to forecast the onset of diabetes mellitus,” Proc. SCAMC, 1988.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Detrano et al., “International application of a new probability algorithm for the diagnosis of coronary artery disease,” Am. J. Cardiology, 64(5), 1989.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Diabetes Prevention Program Research Group, “Reduction in the incidence of type 2 diabetes…,” NEJM, 346(6), 2002.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A. Niculescu-Mizil, R. Caruana, “Predicting good probabilities with supervised learning,” ICML, 2005.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F. Pedregosa et al., “Scikit-learn: machine learning in Python,” JMLR, 12, 2011.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Prediction System  ·  Diabetes &amp; Heart Disease  ·  200 models, honest uncertainty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live:  healthpredictor092005.streamlit.app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2026-08-10T19:22:31Z</dcterms:created>
  <dcterms:modified xsi:type="dcterms:W3CDTF">2026-08-10T19:22:31Z</dcterms:modified>
</cp:coreProperties>
</file>